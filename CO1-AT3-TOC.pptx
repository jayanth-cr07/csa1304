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7" r:id="rId6"/>
    <p:sldId id="272" r:id="rId7"/>
    <p:sldId id="269" r:id="rId8"/>
    <p:sldId id="271" r:id="rId9"/>
    <p:sldId id="260" r:id="rId10"/>
    <p:sldId id="262" r:id="rId11"/>
    <p:sldId id="263" r:id="rId12"/>
    <p:sldId id="264" r:id="rId13"/>
    <p:sldId id="266" r:id="rId14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MTzR0TEz7C7FonWcDrU1dCRhc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49" autoAdjust="0"/>
    <p:restoredTop sz="94660"/>
  </p:normalViewPr>
  <p:slideViewPr>
    <p:cSldViewPr snapToGrid="0">
      <p:cViewPr varScale="1">
        <p:scale>
          <a:sx n="85" d="100"/>
          <a:sy n="85" d="100"/>
        </p:scale>
        <p:origin x="533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9T04:22:05.839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9T04:22:08.025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0 1 24575,'0'4'0,"0"6"0,0 5 0,0 4 0,0 4 0,0 2 0,0 0 0,0 1 0,0 4 0,0 2 0,0-1 0,0-2 0,0 0 0,0-2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9T04:26:29.824"/>
    </inkml:context>
    <inkml:brush xml:id="br0">
      <inkml:brushProperty name="width" value="0.35" units="cm"/>
      <inkml:brushProperty name="height" value="0.35" units="cm"/>
      <inkml:brushProperty name="color" value="#5B2D90"/>
    </inkml:brush>
  </inkml:definitions>
  <inkml:trace contextRef="#ctx0" brushRef="#br0">1 0 24575,'0'5'0,"0"5"0,0 5 0,0 4 0,0 4 0,0 2 0,0 0 0,0 1 0,0 4 0,0 2 0,0-1 0,0-2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  <a:def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○"/>
              <a:def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■"/>
              <a:def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  <a:def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○"/>
              <a:def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■"/>
              <a:def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  <a:def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○"/>
              <a:def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■"/>
              <a:def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sz="1400" b="0" i="0" u="none" strike="noStrike" cap="non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sz="1400" b="0" i="0" u="none" strike="noStrike" cap="non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sz="1400" b="0" i="0" u="none" strike="noStrike" cap="non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sz="1400" b="0" i="0" u="none" strike="noStrike" cap="non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sz="1400" b="0" i="0" u="none" strike="noStrike" cap="non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sz="1400" b="0" i="0" u="none" strike="noStrike" cap="non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sz="1400" b="0" i="0" u="none" strike="noStrike" cap="non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sz="1400" b="0" i="0" u="none" strike="noStrike" cap="non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sz="1400" b="0" i="0" u="none" strike="noStrike" cap="non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2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33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1891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34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6426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67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16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85712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133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4703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91326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021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Times New Roman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jpg"/><Relationship Id="rId7" Type="http://schemas.openxmlformats.org/officeDocument/2006/relationships/customXml" Target="../ink/ink2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/>
        </p:nvSpPr>
        <p:spPr>
          <a:xfrm>
            <a:off x="131269" y="1841495"/>
            <a:ext cx="11702143" cy="3098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300" rIns="0" bIns="0" anchor="t" anchorCtr="0">
            <a:noAutofit/>
          </a:bodyPr>
          <a:lstStyle/>
          <a:p>
            <a:pPr marL="384175" lvl="0" algn="ctr">
              <a:spcBef>
                <a:spcPts val="710"/>
              </a:spcBef>
              <a:buClr>
                <a:srgbClr val="000000"/>
              </a:buClr>
              <a:buSzPts val="2400"/>
            </a:pPr>
            <a:r>
              <a:rPr lang="en-US" sz="4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FLOWFORGE: AI-POWERED UNIVERSAL WORKFLOW COMPILER USING FORMAL LANGUAGE AND DFA</a:t>
            </a:r>
          </a:p>
          <a:p>
            <a:pPr marL="384175" marR="0" lvl="0" indent="0" algn="ctr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175" marR="0" lvl="0" indent="0" algn="ctr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</a:t>
            </a:r>
            <a:r>
              <a:rPr lang="en-US" sz="20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CSA1304 THEORY OF COMPUTATION</a:t>
            </a:r>
            <a:endParaRPr lang="en-US" b="0" i="0" u="none" strike="noStrike" cap="none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175" marR="0" lvl="0" indent="0" algn="ctr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6" name="Picture 2" descr="SIMATS ENGINEERING —BIOTECHNOLOGY">
            <a:extLst>
              <a:ext uri="{FF2B5EF4-FFF2-40B4-BE49-F238E27FC236}">
                <a16:creationId xmlns:a16="http://schemas.microsoft.com/office/drawing/2014/main" id="{8F007936-57BE-9546-2076-5E8E3C969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370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4D5853-6FE5-5E65-1EBC-E1D17822AEBD}"/>
              </a:ext>
            </a:extLst>
          </p:cNvPr>
          <p:cNvSpPr txBox="1"/>
          <p:nvPr/>
        </p:nvSpPr>
        <p:spPr>
          <a:xfrm>
            <a:off x="358588" y="4939553"/>
            <a:ext cx="3469341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4175" lvl="0">
              <a:spcBef>
                <a:spcPts val="710"/>
              </a:spcBef>
              <a:buClr>
                <a:srgbClr val="000000"/>
              </a:buClr>
              <a:buSzPts val="2400"/>
            </a:pPr>
            <a:r>
              <a:rPr lang="en-US" sz="1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</a:p>
          <a:p>
            <a:pPr marL="384175" marR="0" lvl="0" indent="0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D.NAVEEN KUMAR (192511401)</a:t>
            </a:r>
          </a:p>
          <a:p>
            <a:pPr marL="384175" marR="0" lvl="0" indent="0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B.JAYANTH (192511375)</a:t>
            </a:r>
          </a:p>
          <a:p>
            <a:pPr marL="384175" marR="0" lvl="0" indent="0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J.JAYADEEP (192511304)</a:t>
            </a:r>
          </a:p>
          <a:p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0AAF5-1758-BD87-AE1B-044D31027F8D}"/>
              </a:ext>
            </a:extLst>
          </p:cNvPr>
          <p:cNvSpPr txBox="1"/>
          <p:nvPr/>
        </p:nvSpPr>
        <p:spPr>
          <a:xfrm>
            <a:off x="8157882" y="4939553"/>
            <a:ext cx="3342389" cy="951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4175" marR="0" lvl="0" indent="0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1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r>
              <a:rPr lang="en-US" sz="16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marL="384175" marR="0" lvl="0" indent="0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K.BASKAR</a:t>
            </a:r>
            <a:endParaRPr lang="en-US" sz="1600" b="0" i="0" u="none" strike="noStrike" cap="none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F8C5-5508-BBA4-6366-C89022907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291" y="-250359"/>
            <a:ext cx="8988427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5" name="Google Shape;53;p2">
            <a:extLst>
              <a:ext uri="{FF2B5EF4-FFF2-40B4-BE49-F238E27FC236}">
                <a16:creationId xmlns:a16="http://schemas.microsoft.com/office/drawing/2014/main" id="{4C6DED9A-2FD6-9C1A-5F85-9C00770CB7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7785" y="18023"/>
            <a:ext cx="852452" cy="77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2;p2">
            <a:extLst>
              <a:ext uri="{FF2B5EF4-FFF2-40B4-BE49-F238E27FC236}">
                <a16:creationId xmlns:a16="http://schemas.microsoft.com/office/drawing/2014/main" id="{7D08D086-1849-BEDB-C0B1-6AC362CADB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6988"/>
            <a:ext cx="852451" cy="77087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25E53-301E-A696-5D11-CAC07C6EE8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6067" y="2682656"/>
            <a:ext cx="1149794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Times New Roman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Times New Roman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2EEEEF-B72D-1F06-15F3-29E51BB946EA}"/>
              </a:ext>
            </a:extLst>
          </p:cNvPr>
          <p:cNvSpPr txBox="1"/>
          <p:nvPr/>
        </p:nvSpPr>
        <p:spPr>
          <a:xfrm>
            <a:off x="437414" y="1280110"/>
            <a:ext cx="11568180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FlowForge converts real-world process descriptions into structured, validated workflows.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first define team members, their skills, specialties, and availability.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transforms natural-language requirements and optional reference documents into structured workflow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frontend validates dependencies, assignments, and transitions before visualization.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multiple real-world domains rather than a single industry, with workflows represented using formal states and transitions.</a:t>
            </a:r>
          </a:p>
        </p:txBody>
      </p:sp>
    </p:spTree>
    <p:extLst>
      <p:ext uri="{BB962C8B-B14F-4D97-AF65-F5344CB8AC3E}">
        <p14:creationId xmlns:p14="http://schemas.microsoft.com/office/powerpoint/2010/main" val="717745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3E8EF-D8D7-FF35-41F8-652283F16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025" y="-275629"/>
            <a:ext cx="8988427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9A77A-1194-391A-F375-D12B2C6AF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249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procedures are often scattered across documents, manuals, and informal instructions.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task assignment is difficult when people differ in skills, availability, and workload.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workflow tools require users to construct every dependency by hand; AI-generated workflows can contain incorrect or inconsistent steps.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is needed to convert natural-language procedures into structured, validated, visual workflows.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52;p2">
            <a:extLst>
              <a:ext uri="{FF2B5EF4-FFF2-40B4-BE49-F238E27FC236}">
                <a16:creationId xmlns:a16="http://schemas.microsoft.com/office/drawing/2014/main" id="{44232293-4568-0A3A-576C-2A495EE0EA2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774" y="21272"/>
            <a:ext cx="731426" cy="731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3;p2">
            <a:extLst>
              <a:ext uri="{FF2B5EF4-FFF2-40B4-BE49-F238E27FC236}">
                <a16:creationId xmlns:a16="http://schemas.microsoft.com/office/drawing/2014/main" id="{AA90C4D4-D2EB-382D-6B1E-7BF9673C42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86564" y="21272"/>
            <a:ext cx="905435" cy="7317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1835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3E8EF-D8D7-FF35-41F8-652283F16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670" y="-194907"/>
            <a:ext cx="8988426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4" name="Google Shape;52;p2">
            <a:extLst>
              <a:ext uri="{FF2B5EF4-FFF2-40B4-BE49-F238E27FC236}">
                <a16:creationId xmlns:a16="http://schemas.microsoft.com/office/drawing/2014/main" id="{44232293-4568-0A3A-576C-2A495EE0EA2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08252"/>
            <a:ext cx="710211" cy="5808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F9C781E5-7CF8-ADCE-1419-69CD45897A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3695" y="1051835"/>
            <a:ext cx="1160875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universal AI-powered workflow compiler.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structured workflows from natural-language descriptions.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incorporate team skills, specialties, availability, and constraints.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validate AI-generated workflow data deterministically.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model sequential workflows using formal states and transitions, generating DFA representations and transition tables.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create schedules and task assignments.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reference-document uploads and PDF report export.</a:t>
            </a:r>
          </a:p>
        </p:txBody>
      </p:sp>
      <p:pic>
        <p:nvPicPr>
          <p:cNvPr id="9" name="Google Shape;53;p2">
            <a:extLst>
              <a:ext uri="{FF2B5EF4-FFF2-40B4-BE49-F238E27FC236}">
                <a16:creationId xmlns:a16="http://schemas.microsoft.com/office/drawing/2014/main" id="{D9A47C58-C74B-4E0B-6700-3FB910C260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49318" y="73766"/>
            <a:ext cx="763130" cy="6153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9419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48658-51AA-4766-86C4-AAD6BF00F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694" y="55149"/>
            <a:ext cx="10515600" cy="988546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&amp; RESOURCE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2B85D-3172-44B8-A0D3-9E6F84201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53" y="1484966"/>
            <a:ext cx="5849471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Purpose:</a:t>
            </a:r>
            <a:br>
              <a:rPr lang="en-US" dirty="0"/>
            </a:br>
            <a:r>
              <a:rPr lang="en-US" sz="2400" dirty="0"/>
              <a:t>Manages team members, resources, roles, and task allocation required for workflow development and execution.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b="1" dirty="0"/>
              <a:t>Key Features:</a:t>
            </a:r>
            <a:endParaRPr lang="en-US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Team creation and role assignment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Resource allocation and management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Task assignment and scheduling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Performance tracking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Collaboration and communication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52;p2">
            <a:extLst>
              <a:ext uri="{FF2B5EF4-FFF2-40B4-BE49-F238E27FC236}">
                <a16:creationId xmlns:a16="http://schemas.microsoft.com/office/drawing/2014/main" id="{8C0B9BD9-931A-233B-40D8-9C3F3893973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83" y="72393"/>
            <a:ext cx="710211" cy="580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3;p2">
            <a:extLst>
              <a:ext uri="{FF2B5EF4-FFF2-40B4-BE49-F238E27FC236}">
                <a16:creationId xmlns:a16="http://schemas.microsoft.com/office/drawing/2014/main" id="{A6AFEC87-EA8F-DA4D-9C6E-18B9AE28E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3800" y="55149"/>
            <a:ext cx="763130" cy="615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13850E-CE75-684F-179A-1E24BF14E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793" y="1162252"/>
            <a:ext cx="5849471" cy="51251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62350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7506D-A5EC-4D01-9BA7-B47AEB9D0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336" y="-97302"/>
            <a:ext cx="11219328" cy="715868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+mn-lt"/>
              </a:rPr>
              <a:t>MODULE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0F412B-A7D1-78F5-3AE5-73D25406E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718" y="493060"/>
            <a:ext cx="12263718" cy="636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791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E8514-F744-425D-AC28-088471565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742" y="-7752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WORKFLOW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5859E-EFDF-4B51-803E-4F1B18525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64" y="1332566"/>
            <a:ext cx="6638365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Purpose:</a:t>
            </a:r>
            <a:br>
              <a:rPr lang="en-US" dirty="0"/>
            </a:br>
            <a:r>
              <a:rPr lang="en-US" sz="2600" dirty="0"/>
              <a:t>Converts natural-language workflow descriptions into structured and executable workflow representations.</a:t>
            </a:r>
          </a:p>
          <a:p>
            <a:pPr marL="0" indent="0">
              <a:buNone/>
            </a:pPr>
            <a:r>
              <a:rPr lang="en-US" b="1" dirty="0"/>
              <a:t>Key Features: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Natural-language workflow input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AI-based workflow parsing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Task and dependency identification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Syntax and workflow validation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Workflow compilation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Intermediate workflow representation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52;p2">
            <a:extLst>
              <a:ext uri="{FF2B5EF4-FFF2-40B4-BE49-F238E27FC236}">
                <a16:creationId xmlns:a16="http://schemas.microsoft.com/office/drawing/2014/main" id="{213AB99B-3ADB-DE42-7C4A-DB876F614AF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83" y="72393"/>
            <a:ext cx="710211" cy="580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3;p2">
            <a:extLst>
              <a:ext uri="{FF2B5EF4-FFF2-40B4-BE49-F238E27FC236}">
                <a16:creationId xmlns:a16="http://schemas.microsoft.com/office/drawing/2014/main" id="{EE4D5DB6-7631-2EEA-8037-FC80FA239D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3800" y="55149"/>
            <a:ext cx="763130" cy="615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221046-5AC1-FB28-659F-38C06AC76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2542" y="1174096"/>
            <a:ext cx="5894294" cy="511563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A79CE-340C-9D0F-1415-A4FCC87F53D3}"/>
              </a:ext>
            </a:extLst>
          </p:cNvPr>
          <p:cNvGrpSpPr/>
          <p:nvPr/>
        </p:nvGrpSpPr>
        <p:grpSpPr>
          <a:xfrm>
            <a:off x="9502518" y="1487936"/>
            <a:ext cx="360" cy="117360"/>
            <a:chOff x="9502518" y="1487936"/>
            <a:chExt cx="360" cy="1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F2C37B-2B27-FE9A-7F37-E22543D8587A}"/>
                    </a:ext>
                  </a:extLst>
                </p14:cNvPr>
                <p14:cNvContentPartPr/>
                <p14:nvPr/>
              </p14:nvContentPartPr>
              <p14:xfrm>
                <a:off x="9502518" y="1487936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F2C37B-2B27-FE9A-7F37-E22543D8587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439518" y="142529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0CCB790-11DE-20BB-E432-E8A1C2AB66C6}"/>
                    </a:ext>
                  </a:extLst>
                </p14:cNvPr>
                <p14:cNvContentPartPr/>
                <p14:nvPr/>
              </p14:nvContentPartPr>
              <p14:xfrm>
                <a:off x="9502518" y="1487936"/>
                <a:ext cx="360" cy="117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0CCB790-11DE-20BB-E432-E8A1C2AB66C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39518" y="1425296"/>
                  <a:ext cx="126000" cy="243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16263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7897F-B67B-44AE-B714-620DE9855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153" y="55149"/>
            <a:ext cx="10515600" cy="988546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WORKFLOW &amp; DFA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4023A-CE99-4A49-B144-AD0363534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478148"/>
            <a:ext cx="6306671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Purpose:</a:t>
            </a:r>
            <a:br>
              <a:rPr lang="en-IN" dirty="0"/>
            </a:br>
            <a:r>
              <a:rPr lang="en-IN" dirty="0"/>
              <a:t>Represents workflows using formal language and validates workflow sequences using a Deterministic Finite Automaton (DFA).</a:t>
            </a:r>
          </a:p>
          <a:p>
            <a:pPr marL="0" indent="0">
              <a:buNone/>
            </a:pPr>
            <a:r>
              <a:rPr lang="en-IN" b="1" dirty="0"/>
              <a:t>Key Features: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Formal workflow generation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Formal language representation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Alphabet and grammar definition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DFA construction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Workflow sequence validation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Accept/Reject decision using DFA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Detection of invalid workflow transitions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52;p2">
            <a:extLst>
              <a:ext uri="{FF2B5EF4-FFF2-40B4-BE49-F238E27FC236}">
                <a16:creationId xmlns:a16="http://schemas.microsoft.com/office/drawing/2014/main" id="{09805604-4EEE-2615-D704-F1AA28CFF6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83" y="72393"/>
            <a:ext cx="710211" cy="580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3;p2">
            <a:extLst>
              <a:ext uri="{FF2B5EF4-FFF2-40B4-BE49-F238E27FC236}">
                <a16:creationId xmlns:a16="http://schemas.microsoft.com/office/drawing/2014/main" id="{C4DA86C0-489C-8709-1698-A2536F3358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3800" y="55149"/>
            <a:ext cx="763130" cy="615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DFB7DF-935D-B613-EE53-E64A365D2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871" y="1123150"/>
            <a:ext cx="5809129" cy="57348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5A84528-DCD3-8F03-1DDC-A220623671AE}"/>
                  </a:ext>
                </a:extLst>
              </p14:cNvPr>
              <p14:cNvContentPartPr/>
              <p14:nvPr/>
            </p14:nvContentPartPr>
            <p14:xfrm>
              <a:off x="9726438" y="1407296"/>
              <a:ext cx="360" cy="107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5A84528-DCD3-8F03-1DDC-A220623671A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63798" y="1344296"/>
                <a:ext cx="126000" cy="23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1056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04861-C712-2EEA-AB1B-0BC4C13C2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386" y="-265300"/>
            <a:ext cx="8988427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APPLIED</a:t>
            </a:r>
          </a:p>
        </p:txBody>
      </p:sp>
      <p:pic>
        <p:nvPicPr>
          <p:cNvPr id="4" name="Google Shape;52;p2">
            <a:extLst>
              <a:ext uri="{FF2B5EF4-FFF2-40B4-BE49-F238E27FC236}">
                <a16:creationId xmlns:a16="http://schemas.microsoft.com/office/drawing/2014/main" id="{47B4BC79-81A0-0649-6AAB-A4113EE3386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707" y="57469"/>
            <a:ext cx="716187" cy="659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3;p2">
            <a:extLst>
              <a:ext uri="{FF2B5EF4-FFF2-40B4-BE49-F238E27FC236}">
                <a16:creationId xmlns:a16="http://schemas.microsoft.com/office/drawing/2014/main" id="{261A6257-70F1-A8AD-B718-58C6D544FE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8305" y="77788"/>
            <a:ext cx="909225" cy="63938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EF4D282-A5AD-C61E-D656-F8D038880F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201" y="1272563"/>
            <a:ext cx="6536505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Model: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Finite Automata (DFA)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Handling: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Dependency Analysis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Constraint-Based Scheduling Algorithms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&amp; Constraint Validation (Zod)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Stack: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Next.js, React, TypeScript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Client-Side Storage: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IndexedDB with Dexie.js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Output: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Provider-Independent AI API + PDF Export</a:t>
            </a:r>
          </a:p>
        </p:txBody>
      </p:sp>
      <p:pic>
        <p:nvPicPr>
          <p:cNvPr id="1028" name="Picture 4" descr="Vision AI Flow | Vision Technology">
            <a:extLst>
              <a:ext uri="{FF2B5EF4-FFF2-40B4-BE49-F238E27FC236}">
                <a16:creationId xmlns:a16="http://schemas.microsoft.com/office/drawing/2014/main" id="{19BE1373-C6EC-B3E1-C65E-9B983F037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024" y="1325562"/>
            <a:ext cx="5593976" cy="553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733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DF50C-93E0-00F8-2AF9-AF16168A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469" y="-305342"/>
            <a:ext cx="9415146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pic>
        <p:nvPicPr>
          <p:cNvPr id="4" name="Google Shape;52;p2">
            <a:extLst>
              <a:ext uri="{FF2B5EF4-FFF2-40B4-BE49-F238E27FC236}">
                <a16:creationId xmlns:a16="http://schemas.microsoft.com/office/drawing/2014/main" id="{D9F9FA03-4EEF-BF7D-12FF-FAF4C9116C8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707" y="6669"/>
            <a:ext cx="707222" cy="701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3;p2">
            <a:extLst>
              <a:ext uri="{FF2B5EF4-FFF2-40B4-BE49-F238E27FC236}">
                <a16:creationId xmlns:a16="http://schemas.microsoft.com/office/drawing/2014/main" id="{E1B39BB0-2961-144C-8702-33A273FC94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12070" y="69422"/>
            <a:ext cx="707223" cy="57603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FB17167-1C2E-681F-63CB-ED5050143F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5107" y="1568575"/>
            <a:ext cx="1126585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workflow creation and reduced manual planning.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Structured, dependency-aware task assignment and scheduling.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validation of sequential workflows using DFA.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outputs: interactive workflow graph, flowchart, dependency graph, and Gantt timeline.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Reusable documentation via PDF export covering team, tasks, workflow, DFA, schedule, and risks.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Multi-domain applicability: healthcare, software, food, maintenance, manufacturing, research, construction, education.</a:t>
            </a:r>
          </a:p>
        </p:txBody>
      </p:sp>
    </p:spTree>
    <p:extLst>
      <p:ext uri="{BB962C8B-B14F-4D97-AF65-F5344CB8AC3E}">
        <p14:creationId xmlns:p14="http://schemas.microsoft.com/office/powerpoint/2010/main" val="2503846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4C102-DD0F-9241-3124-3126BD4F4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645" y="-300879"/>
            <a:ext cx="9415146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5CBE8-5206-A637-39CF-62BBF33CC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89" y="1690688"/>
            <a:ext cx="11054255" cy="4829175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Richer formal models beyond DFA, including NFA-based workflow representations.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Resource-constrained scheduling and workflow optimization.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/ local AI support and additional AI providers.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comparison, versioning, and workflow execution monitoring.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and enterprise collaboration features.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and failure-recovery / alternative workflow paths.</a:t>
            </a:r>
          </a:p>
        </p:txBody>
      </p:sp>
      <p:pic>
        <p:nvPicPr>
          <p:cNvPr id="7" name="Google Shape;52;p2">
            <a:extLst>
              <a:ext uri="{FF2B5EF4-FFF2-40B4-BE49-F238E27FC236}">
                <a16:creationId xmlns:a16="http://schemas.microsoft.com/office/drawing/2014/main" id="{30180A14-CAC0-736E-F36C-49D7FE779EE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75" y="0"/>
            <a:ext cx="645849" cy="699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53;p2">
            <a:extLst>
              <a:ext uri="{FF2B5EF4-FFF2-40B4-BE49-F238E27FC236}">
                <a16:creationId xmlns:a16="http://schemas.microsoft.com/office/drawing/2014/main" id="{9748DCDE-BAD0-6D5C-FAF9-512E4CE9A1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56893" y="24560"/>
            <a:ext cx="726531" cy="6746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3121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8C564-FFAF-0863-02BD-B5814B95A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786" y="-308748"/>
            <a:ext cx="8988427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Google Shape;52;p2">
            <a:extLst>
              <a:ext uri="{FF2B5EF4-FFF2-40B4-BE49-F238E27FC236}">
                <a16:creationId xmlns:a16="http://schemas.microsoft.com/office/drawing/2014/main" id="{A5D731C5-D2BF-D575-496E-5439C56CE9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18" y="11091"/>
            <a:ext cx="699247" cy="708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3;p2">
            <a:extLst>
              <a:ext uri="{FF2B5EF4-FFF2-40B4-BE49-F238E27FC236}">
                <a16:creationId xmlns:a16="http://schemas.microsoft.com/office/drawing/2014/main" id="{72B71604-B8A5-5B28-6361-9D8A430086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03106" y="0"/>
            <a:ext cx="788894" cy="70806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095C0AE-103A-2864-7999-4285A36C92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718" y="1734895"/>
            <a:ext cx="1121356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FlowForge bridges natural-language process planning, artificial intelligence, and formal language theory, converting informal procedures into structured, validated workflow representations.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is used for workflow generation rather than blindly trusted, with deterministic validation, DFA-based sequencing, and automatic scheduling ensuring consistent, visual workflow representations.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architecture supports healthcare, software, food, maintenance, manufacturing, research, and many other real-world domains — providing a path from human instructions to machine-processable workflows.</a:t>
            </a:r>
          </a:p>
        </p:txBody>
      </p:sp>
    </p:spTree>
    <p:extLst>
      <p:ext uri="{BB962C8B-B14F-4D97-AF65-F5344CB8AC3E}">
        <p14:creationId xmlns:p14="http://schemas.microsoft.com/office/powerpoint/2010/main" val="3194501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Thanks You White Transparent, Brush Thank You, Vector ...">
            <a:extLst>
              <a:ext uri="{FF2B5EF4-FFF2-40B4-BE49-F238E27FC236}">
                <a16:creationId xmlns:a16="http://schemas.microsoft.com/office/drawing/2014/main" id="{C074EA5E-B896-1532-5CFE-96111D861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3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oogle Shape;52;p2">
            <a:extLst>
              <a:ext uri="{FF2B5EF4-FFF2-40B4-BE49-F238E27FC236}">
                <a16:creationId xmlns:a16="http://schemas.microsoft.com/office/drawing/2014/main" id="{4DA0F14B-7ECC-BF94-93E8-CFC5DADD97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618565" cy="73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53;p2">
            <a:extLst>
              <a:ext uri="{FF2B5EF4-FFF2-40B4-BE49-F238E27FC236}">
                <a16:creationId xmlns:a16="http://schemas.microsoft.com/office/drawing/2014/main" id="{F380BB82-85E8-212D-7114-975EA494EAF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8282" y="44574"/>
            <a:ext cx="833718" cy="7351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1535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Times New Roman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1071</TotalTime>
  <Words>689</Words>
  <Application>Microsoft Office PowerPoint</Application>
  <PresentationFormat>Widescreen</PresentationFormat>
  <Paragraphs>114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Times New Roman</vt:lpstr>
      <vt:lpstr>Wingdings</vt:lpstr>
      <vt:lpstr>Office Theme</vt:lpstr>
      <vt:lpstr>PowerPoint Presentation</vt:lpstr>
      <vt:lpstr>INTRODUCTION</vt:lpstr>
      <vt:lpstr>PROBLEM STATEMENT</vt:lpstr>
      <vt:lpstr>OBJECTIVES</vt:lpstr>
      <vt:lpstr>MODULE 1: TEAM &amp; RESOURCE MANAGEMENT</vt:lpstr>
      <vt:lpstr>MODULE 2</vt:lpstr>
      <vt:lpstr>MODULE 3: AI WORKFLOW COMPILER</vt:lpstr>
      <vt:lpstr>MODULE 4: FORMAL WORKFLOW &amp; DFA ENGINE</vt:lpstr>
      <vt:lpstr>TECHNIQUES APPLIED</vt:lpstr>
      <vt:lpstr>OUTCOMES</vt:lpstr>
      <vt:lpstr>FUTURE IMPROVEMENTS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SAVEETHA SCHOOL OF ENGINEERING</dc:title>
  <dc:creator>HP</dc:creator>
  <cp:lastModifiedBy>Sakthivel Sanjay</cp:lastModifiedBy>
  <cp:revision>38</cp:revision>
  <dcterms:created xsi:type="dcterms:W3CDTF">2025-08-23T06:36:26Z</dcterms:created>
  <dcterms:modified xsi:type="dcterms:W3CDTF">2026-09-02T04:33:14Z</dcterms:modified>
</cp:coreProperties>
</file>